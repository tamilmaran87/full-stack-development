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64008" cy="50794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74320"/>
            <a:ext cx="73152" cy="73152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274320"/>
            <a:ext cx="73152" cy="73152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0" y="274320"/>
            <a:ext cx="73152" cy="73152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0" y="274320"/>
            <a:ext cx="73152" cy="73152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0" y="274320"/>
            <a:ext cx="73152" cy="73152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0" y="548640"/>
            <a:ext cx="73152" cy="73152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0" y="548640"/>
            <a:ext cx="73152" cy="73152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0" y="548640"/>
            <a:ext cx="73152" cy="73152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21040" y="548640"/>
            <a:ext cx="73152" cy="73152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95360" y="548640"/>
            <a:ext cx="73152" cy="73152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0" y="822960"/>
            <a:ext cx="73152" cy="73152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0" y="822960"/>
            <a:ext cx="73152" cy="73152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822960"/>
            <a:ext cx="73152" cy="73152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822960"/>
            <a:ext cx="73152" cy="73152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95360" y="822960"/>
            <a:ext cx="73152" cy="73152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0" y="1097280"/>
            <a:ext cx="73152" cy="73152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0" y="1097280"/>
            <a:ext cx="73152" cy="73152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0" y="1097280"/>
            <a:ext cx="73152" cy="73152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21040" y="1097280"/>
            <a:ext cx="73152" cy="73152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95360" y="1097280"/>
            <a:ext cx="73152" cy="73152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0" y="1371600"/>
            <a:ext cx="73152" cy="73152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0" y="1371600"/>
            <a:ext cx="73152" cy="73152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0" y="1371600"/>
            <a:ext cx="73152" cy="73152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21040" y="1371600"/>
            <a:ext cx="73152" cy="73152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95360" y="1371600"/>
            <a:ext cx="73152" cy="73152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640080"/>
            <a:ext cx="1097280" cy="320040"/>
          </a:xfrm>
          <a:prstGeom prst="rect">
            <a:avLst>
              <a:gd name="adj" fmla="val 14286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40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TASK 15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10972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Registry</a:t>
            </a:r>
            <a:endParaRPr lang="en-US" sz="5200" dirty="0"/>
          </a:p>
        </p:txBody>
      </p:sp>
      <p:sp>
        <p:nvSpPr>
          <p:cNvPr id="32" name="Text 30"/>
          <p:cNvSpPr/>
          <p:nvPr/>
        </p:nvSpPr>
        <p:spPr>
          <a:xfrm>
            <a:off x="457200" y="19202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Discovery</a:t>
            </a:r>
            <a:endParaRPr lang="en-US" sz="5200" dirty="0"/>
          </a:p>
        </p:txBody>
      </p:sp>
      <p:sp>
        <p:nvSpPr>
          <p:cNvPr id="33" name="Text 31"/>
          <p:cNvSpPr/>
          <p:nvPr/>
        </p:nvSpPr>
        <p:spPr>
          <a:xfrm>
            <a:off x="457200" y="2834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Netflix Eureka with Spring Boot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Java JDK 17  •  </a:t>
            </a:r>
            <a:pPr algn="ctr" indent="0" marL="0">
              <a:buNone/>
            </a:pPr>
            <a:r>
              <a:rPr lang="en-US" sz="1300" dirty="0">
                <a:solidFill>
                  <a:srgbClr val="0EA5E9"/>
                </a:solidFill>
              </a:rPr>
              <a:t>Spring Boot  •  </a:t>
            </a:r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Spring Cloud Netflix Eureka  •  </a:t>
            </a:r>
            <a:pPr algn="ctr" indent="0" marL="0">
              <a:buNone/>
            </a:pPr>
            <a:r>
              <a:rPr lang="en-US" sz="1300" dirty="0">
                <a:solidFill>
                  <a:srgbClr val="14B8A6"/>
                </a:solidFill>
              </a:rPr>
              <a:t>Maven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3716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3931920" cy="18288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73152" cy="18288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60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</a:rPr>
              <a:t>❌ Hard-coded URLs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microservices, services communicate with each other. Hard-coded URLs make it difficult to manage: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Scaling &amp; load balancing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Dynamic service instances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Fault tolerance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3931920" cy="18288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14400"/>
            <a:ext cx="73152" cy="1828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960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</a:rPr>
              <a:t>✅ Service Discovery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37160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Eureka acts as a central service registry: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Services register themselves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Others discover dynamically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more fixed/hard-coded URLs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2651760" cy="1554480"/>
          </a:xfrm>
          <a:prstGeom prst="rect">
            <a:avLst/>
          </a:prstGeom>
          <a:solidFill>
            <a:srgbClr val="1B2A3B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31089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65760" y="3749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</a:rPr>
              <a:t>Scalability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0" y="3017520"/>
            <a:ext cx="2651760" cy="1554480"/>
          </a:xfrm>
          <a:prstGeom prst="rect">
            <a:avLst/>
          </a:prstGeom>
          <a:solidFill>
            <a:srgbClr val="1B2A3B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0" y="31089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🛡️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200400" y="3749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Fault Tolerance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35040" y="3017520"/>
            <a:ext cx="2651760" cy="1554480"/>
          </a:xfrm>
          <a:prstGeom prst="rect">
            <a:avLst/>
          </a:prstGeom>
          <a:solidFill>
            <a:srgbClr val="1B2A3B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35040" y="31089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🔄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035040" y="3749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</a:rPr>
              <a:t>Dynamic Comms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3716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2011680" cy="822960"/>
          </a:xfrm>
          <a:prstGeom prst="rect">
            <a:avLst/>
          </a:prstGeom>
          <a:solidFill>
            <a:srgbClr val="1B2A3B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058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🌐 Client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371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Browser / Postman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0" y="1371600"/>
            <a:ext cx="13716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1143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EA5E9"/>
                </a:solidFill>
              </a:rPr>
              <a:t>API Requests →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83280" y="822960"/>
            <a:ext cx="2743200" cy="1188720"/>
          </a:xfrm>
          <a:prstGeom prst="rect">
            <a:avLst/>
          </a:prstGeom>
          <a:solidFill>
            <a:srgbClr val="0A2540"/>
          </a:solidFill>
          <a:ln w="317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822960"/>
            <a:ext cx="27432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8686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🔵 Eureka Server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83280" y="1280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A5E9"/>
                </a:solidFill>
              </a:rPr>
              <a:t>Service Registry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15087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Port: 8761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49040" y="2011680"/>
            <a:ext cx="45720" cy="6400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49040" y="2011680"/>
            <a:ext cx="128016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0" y="2011680"/>
            <a:ext cx="45720" cy="6400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651760"/>
            <a:ext cx="3474720" cy="1965960"/>
          </a:xfrm>
          <a:prstGeom prst="rect">
            <a:avLst/>
          </a:prstGeom>
          <a:solidFill>
            <a:srgbClr val="1B2A3B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651760"/>
            <a:ext cx="347472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706624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🎓 Student Service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310896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Port: </a:t>
            </a:r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8081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Endpoint: </a:t>
            </a:r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/students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Registers with Eureka
</a:t>
            </a:r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Provides Student API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212080" y="2651760"/>
            <a:ext cx="3474720" cy="1965960"/>
          </a:xfrm>
          <a:prstGeom prst="rect">
            <a:avLst/>
          </a:prstGeom>
          <a:solidFill>
            <a:srgbClr val="1B2A3B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212080" y="2651760"/>
            <a:ext cx="347472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2706624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📚 Course Service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94960" y="310896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Port: </a:t>
            </a:r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8082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Endpoint: </a:t>
            </a:r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/courses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Registers with Eureka
</a:t>
            </a:r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Provides Course API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0" y="4389120"/>
            <a:ext cx="2743200" cy="365760"/>
          </a:xfrm>
          <a:prstGeom prst="rect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4389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A5E9"/>
                </a:solidFill>
              </a:rPr>
              <a:t>⟵  Service Discovery  ⟶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Eureka Server Setup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3716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4114800" cy="22860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73152" cy="2286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</a:rPr>
              <a:t>📋 Project Configuration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Name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20240" y="137160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</a:rPr>
              <a:t>eureka-server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70078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Group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1700784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</a:rPr>
              <a:t>com.example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02996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Artifact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20240" y="202996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</a:rPr>
              <a:t>eureka-server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235915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Java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20240" y="235915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</a:rPr>
              <a:t>17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268833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Type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20240" y="268833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</a:rPr>
              <a:t>Maven / Jar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868680"/>
            <a:ext cx="3931920" cy="109728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868680"/>
            <a:ext cx="73152" cy="10972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914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📦 Dependencies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13258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✔  Spring Web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✔  Eureka Server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2148840"/>
            <a:ext cx="3931920" cy="1005840"/>
          </a:xfrm>
          <a:prstGeom prst="rect">
            <a:avLst/>
          </a:prstGeom>
          <a:solidFill>
            <a:srgbClr val="1E2D3D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0" y="2194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</a:rPr>
              <a:t>⚙ application.properties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248716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server.port=8761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eureka.client.register-with-eureka=false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eureka.client.fetch-registry=false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246120"/>
            <a:ext cx="8321040" cy="1508760"/>
          </a:xfrm>
          <a:prstGeom prst="rect">
            <a:avLst/>
          </a:prstGeom>
          <a:solidFill>
            <a:srgbClr val="1E2D3D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8640" y="33101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</a:rPr>
              <a:t>📌 EurekaServerApplication.java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36118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@SpringBootApplication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@EnableEurekaServer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EurekaServerApplication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static void main(String[] args)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SpringApplication.run(EurekaServerApplication.class, args);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Student Microservice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37160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4114800" cy="13716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73152" cy="13716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14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</a:rPr>
              <a:t>⚙ application.properties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26187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server.port =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108960" y="126187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8081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15544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spring.application.name =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108960" y="15544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student-service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18470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eureka.client.service-url.defaultZone =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108960" y="184708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http://localhost:8761/eureka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868680"/>
            <a:ext cx="3931920" cy="13716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868680"/>
            <a:ext cx="73152" cy="13716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9144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📦 Dependencies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12801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✔  Spring Web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✔  Eureka Discovery Client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2331720"/>
            <a:ext cx="4114800" cy="1371600"/>
          </a:xfrm>
          <a:prstGeom prst="rect">
            <a:avLst/>
          </a:prstGeom>
          <a:solidFill>
            <a:srgbClr val="1E2D3D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23957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</a:rPr>
              <a:t>📌 StudentServiceApplication.java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2670048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@SpringBootApplication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@EnableDiscoveryClient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StudentServiceApplication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static void main(String[] args)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SpringApplication.run(..., args);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331720"/>
            <a:ext cx="3931920" cy="1371600"/>
          </a:xfrm>
          <a:prstGeom prst="rect">
            <a:avLst/>
          </a:prstGeom>
          <a:solidFill>
            <a:srgbClr val="1E2D3D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37760" y="2395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</a:rPr>
              <a:t>📌 StudentController.java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37760" y="2670048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@RestController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StudentController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@GetMapping("/students")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String getStudents()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"Student Service Running";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840480"/>
            <a:ext cx="8321040" cy="1005840"/>
          </a:xfrm>
          <a:prstGeom prst="rect">
            <a:avLst/>
          </a:prstGeom>
          <a:solidFill>
            <a:srgbClr val="1B2A3B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840480"/>
            <a:ext cx="73152" cy="10058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886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✅ Expected Output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420624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Eureka Dashboard → </a:t>
            </a:r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STUDENT-SERVICE  (1 instance)
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 → </a:t>
            </a:r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http://localhost:8081/students</a:t>
            </a:r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"Student Service Running Successfully"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Course Microservice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37160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4114800" cy="13716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73152" cy="13716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14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⚙ application.properties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26187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server.port =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108960" y="126187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8082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15544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spring.application.name =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108960" y="15544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course-service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18470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eureka.client.service-url.defaultZone =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108960" y="184708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http://localhost:8761/eureka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868680"/>
            <a:ext cx="3931920" cy="13716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868680"/>
            <a:ext cx="73152" cy="13716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9144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📦 Dependencies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12801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✔  Spring Web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✔  Eureka Discovery Client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2331720"/>
            <a:ext cx="4114800" cy="1371600"/>
          </a:xfrm>
          <a:prstGeom prst="rect">
            <a:avLst/>
          </a:prstGeom>
          <a:solidFill>
            <a:srgbClr val="1E2D3D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23957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📌 CourseServiceApplication.java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2670048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@SpringBootApplication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@EnableDiscoveryClient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CourseServiceApplication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static void main(String[] args)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SpringApplication.run(..., args);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331720"/>
            <a:ext cx="3931920" cy="1371600"/>
          </a:xfrm>
          <a:prstGeom prst="rect">
            <a:avLst/>
          </a:prstGeom>
          <a:solidFill>
            <a:srgbClr val="1E2D3D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37760" y="2395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</a:rPr>
              <a:t>📌 CourseController.java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37760" y="2670048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@RestController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CourseController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@GetMapping("/courses")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String getCourses()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"Course Service Running";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840480"/>
            <a:ext cx="8321040" cy="1005840"/>
          </a:xfrm>
          <a:prstGeom prst="rect">
            <a:avLst/>
          </a:prstGeom>
          <a:solidFill>
            <a:srgbClr val="1B2A3B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840480"/>
            <a:ext cx="73152" cy="10058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886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✅ Expected Output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420624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Eureka Dashboard → </a:t>
            </a:r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COURSE-SERVICE  (1 instance)
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 → </a:t>
            </a:r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http://localhost:8082/courses</a:t>
            </a:r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"Course Service Running Successfully"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Run &amp; Verify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37160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2651760" cy="1371600"/>
          </a:xfrm>
          <a:prstGeom prst="rect">
            <a:avLst/>
          </a:prstGeom>
          <a:solidFill>
            <a:srgbClr val="1B2A3B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24128"/>
            <a:ext cx="411480" cy="41148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241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0515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Start Eureka Server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4630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Port: 8761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Run As → Spring Boot App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960120"/>
            <a:ext cx="2651760" cy="1371600"/>
          </a:xfrm>
          <a:prstGeom prst="rect">
            <a:avLst/>
          </a:prstGeom>
          <a:solidFill>
            <a:srgbClr val="1B2A3B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024128"/>
            <a:ext cx="411480" cy="4114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0241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40480" y="10515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Start Student Service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0" y="14630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Port: 8081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37560" y="1828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Run As → Spring Boot App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960120"/>
            <a:ext cx="2651760" cy="1371600"/>
          </a:xfrm>
          <a:prstGeom prst="rect">
            <a:avLst/>
          </a:prstGeom>
          <a:solidFill>
            <a:srgbClr val="1B2A3B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024128"/>
            <a:ext cx="411480" cy="4114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0241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20840" y="10515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Start Course Service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20840" y="14630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Port: 8082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0" y="1828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Run As → Spring Boot App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2514600"/>
            <a:ext cx="8321040" cy="2286000"/>
          </a:xfrm>
          <a:prstGeom prst="rect">
            <a:avLst/>
          </a:prstGeom>
          <a:solidFill>
            <a:srgbClr val="061020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2514600"/>
            <a:ext cx="8321040" cy="41148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260604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2606040"/>
            <a:ext cx="164592" cy="164592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0120" y="2606040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80160" y="2578608"/>
            <a:ext cx="457200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80160" y="257860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http://localhost:8761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294436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E9"/>
                </a:solidFill>
              </a:rPr>
              <a:t>🔵 Eureka — Spring Eureka Dashboard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57200" y="3310128"/>
            <a:ext cx="804672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3364992"/>
            <a:ext cx="8046720" cy="3200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3383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Application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383280" y="3383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AMIs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54880" y="3383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Availability Zones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583680" y="33832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Status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3703320"/>
            <a:ext cx="8046720" cy="329184"/>
          </a:xfrm>
          <a:prstGeom prst="rect">
            <a:avLst/>
          </a:prstGeom>
          <a:solidFill>
            <a:srgbClr val="071526"/>
          </a:solidFill>
          <a:ln w="12700">
            <a:solidFill>
              <a:srgbClr val="0715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372160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STUDENT-SERVICE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383280" y="372160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n/a (1)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754880" y="372160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UP (1)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583680" y="372160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UP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" y="4069080"/>
            <a:ext cx="8046720" cy="329184"/>
          </a:xfrm>
          <a:prstGeom prst="rect">
            <a:avLst/>
          </a:prstGeom>
          <a:solidFill>
            <a:srgbClr val="061020"/>
          </a:solidFill>
          <a:ln w="12700">
            <a:solidFill>
              <a:srgbClr val="07152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408736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COURSE-SERVICE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383280" y="408736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n/a (1)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754880" y="408736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UP (1)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583680" y="408736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UP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&amp; 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3716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8321040" cy="777240"/>
          </a:xfrm>
          <a:prstGeom prst="rect">
            <a:avLst/>
          </a:prstGeom>
          <a:solidFill>
            <a:srgbClr val="1B2A3B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73152" cy="7772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868680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</a:rPr>
              <a:t>✅ Service Registry and Discovery using Eureka was successfully implemented!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2651760" cy="1737360"/>
          </a:xfrm>
          <a:prstGeom prst="rect">
            <a:avLst/>
          </a:prstGeom>
          <a:solidFill>
            <a:srgbClr val="1B2A3B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8745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🔵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5760" y="2377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</a:rPr>
              <a:t>Eureka Server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6974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Centralized registry on port 8761. Acts as the service registry hub.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1828800"/>
            <a:ext cx="2651760" cy="1737360"/>
          </a:xfrm>
          <a:prstGeom prst="rect">
            <a:avLst/>
          </a:prstGeom>
          <a:solidFill>
            <a:srgbClr val="1B2A3B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46120" y="18745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🎓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246120" y="2377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Student Service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26974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Registered on port 8081. Discoverable via /students endpoint.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828800"/>
            <a:ext cx="2651760" cy="1737360"/>
          </a:xfrm>
          <a:prstGeom prst="rect">
            <a:avLst/>
          </a:prstGeom>
          <a:solidFill>
            <a:srgbClr val="1B2A3B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26480" y="18745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📚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126480" y="2377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Course Service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26974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Registered on port 8082. Discoverable via /courses endpoint.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749040"/>
            <a:ext cx="1920240" cy="548640"/>
          </a:xfrm>
          <a:prstGeom prst="rect">
            <a:avLst/>
          </a:prstGeom>
          <a:solidFill>
            <a:srgbClr val="1B2A3B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760" y="37490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✔  No Hard-coded URLs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468880" y="3749040"/>
            <a:ext cx="1920240" cy="548640"/>
          </a:xfrm>
          <a:prstGeom prst="rect">
            <a:avLst/>
          </a:prstGeom>
          <a:solidFill>
            <a:srgbClr val="1B2A3B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468880" y="37490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✔  Dynamic Service Lookup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0" y="3749040"/>
            <a:ext cx="1920240" cy="548640"/>
          </a:xfrm>
          <a:prstGeom prst="rect">
            <a:avLst/>
          </a:prstGeom>
          <a:solidFill>
            <a:srgbClr val="1B2A3B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0" y="37490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✔  Scalable Architecture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75120" y="3749040"/>
            <a:ext cx="1920240" cy="548640"/>
          </a:xfrm>
          <a:prstGeom prst="rect">
            <a:avLst/>
          </a:prstGeom>
          <a:solidFill>
            <a:srgbClr val="1B2A3B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675120" y="37490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✔  Fault Tolerant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Services are now discoverable dynamically — eliminating the need for hard-coded service URLs.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15: Service Registry and Discovery with Eureka</dc:title>
  <dc:subject>PptxGenJS Presentation</dc:subject>
  <dc:creator>PptxGenJS</dc:creator>
  <cp:lastModifiedBy>PptxGenJS</cp:lastModifiedBy>
  <cp:revision>1</cp:revision>
  <dcterms:created xsi:type="dcterms:W3CDTF">2026-03-18T05:35:44Z</dcterms:created>
  <dcterms:modified xsi:type="dcterms:W3CDTF">2026-03-18T05:35:44Z</dcterms:modified>
</cp:coreProperties>
</file>